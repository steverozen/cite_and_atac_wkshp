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DC3BC3F-C028-412C-8ED3-278394588BE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E126CB0-ADA0-4A21-817A-201E33DE329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BCAF12C-1ED3-46AD-9336-4B0031483A8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46F0143-065B-4ACE-A4E3-77784CE77B0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BFE8B56-0F7B-4548-91DC-F67C79188FB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8483C67-FAC7-4032-8832-DD7F985153D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045AB29-2F57-4AD6-9AAC-280B1194F7B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3CFAD62-2D0F-490A-B01A-6677AC0E6A6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F9BD6B0-C537-4743-AFD1-C4B16912236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26962AE-FD7C-4029-BD11-DE97AE56E07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1BE3E04-6B63-44F0-8DF8-821F6DD9DC0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EEF3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0" name="Rectangle 2"/>
          <p:cNvSpPr/>
          <p:nvPr/>
        </p:nvSpPr>
        <p:spPr>
          <a:xfrm>
            <a:off x="0" y="0"/>
            <a:ext cx="12191400" cy="822600"/>
          </a:xfrm>
          <a:prstGeom prst="rect">
            <a:avLst/>
          </a:prstGeom>
          <a:solidFill>
            <a:srgbClr val="1A9AA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576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Modularity of Weighted Graph: The Quality Function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Rounded Rectangle 3"/>
          <p:cNvSpPr/>
          <p:nvPr/>
        </p:nvSpPr>
        <p:spPr>
          <a:xfrm>
            <a:off x="548640" y="1097280"/>
            <a:ext cx="11063880" cy="1554120"/>
          </a:xfrm>
          <a:prstGeom prst="roundRect">
            <a:avLst>
              <a:gd name="adj" fmla="val 4000"/>
            </a:avLst>
          </a:prstGeom>
          <a:solidFill>
            <a:srgbClr val="0C1A2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3600" b="1" u="none" strike="noStrike">
                <a:solidFill>
                  <a:srgbClr val="1AB7C0"/>
                </a:solidFill>
                <a:effectLst/>
                <a:uFillTx/>
                <a:latin typeface="Cambria Math"/>
              </a:rPr>
              <a:t>Q = (1/2m) Σᵢⱼ [ wᵢⱼ − sᵢsⱼ / 2m ] · δ(cᵢ, cⱼ)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Rectangle 4"/>
          <p:cNvSpPr/>
          <p:nvPr/>
        </p:nvSpPr>
        <p:spPr>
          <a:xfrm>
            <a:off x="548640" y="2880360"/>
            <a:ext cx="5486040" cy="8683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tIns="45000" rIns="18288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1A9AA3"/>
                </a:solidFill>
                <a:effectLst/>
                <a:uFillTx/>
                <a:latin typeface="Cambria Math"/>
              </a:rPr>
              <a:t>wᵢⱼ    </a:t>
            </a:r>
            <a:r>
              <a:rPr lang="en-US" sz="1400" b="0" u="none" strike="noStrike">
                <a:solidFill>
                  <a:srgbClr val="1F2D3A"/>
                </a:solidFill>
                <a:effectLst/>
                <a:uFillTx/>
                <a:latin typeface="Calibri"/>
              </a:rPr>
              <a:t>Edge weight between nodes i and j (0 if no edge)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Rectangle 5"/>
          <p:cNvSpPr/>
          <p:nvPr/>
        </p:nvSpPr>
        <p:spPr>
          <a:xfrm>
            <a:off x="6172200" y="2880360"/>
            <a:ext cx="5486040" cy="8683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tIns="45000" rIns="18288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1A9AA3"/>
                </a:solidFill>
                <a:effectLst/>
                <a:uFillTx/>
                <a:latin typeface="Cambria Math"/>
              </a:rPr>
              <a:t>δ(cᵢ,cⱼ)    </a:t>
            </a:r>
            <a:r>
              <a:rPr lang="en-US" sz="1400" b="0" u="none" strike="noStrike">
                <a:solidFill>
                  <a:srgbClr val="1F2D3A"/>
                </a:solidFill>
                <a:effectLst/>
                <a:uFillTx/>
                <a:latin typeface="Calibri"/>
              </a:rPr>
              <a:t>1 if nodes i and j are in the same community, else 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Rectangle 6"/>
          <p:cNvSpPr/>
          <p:nvPr/>
        </p:nvSpPr>
        <p:spPr>
          <a:xfrm>
            <a:off x="548640" y="3886200"/>
            <a:ext cx="5486040" cy="8683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tIns="45000" rIns="18288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1A9AA3"/>
                </a:solidFill>
                <a:effectLst/>
                <a:uFillTx/>
                <a:latin typeface="Cambria Math"/>
              </a:rPr>
              <a:t>sᵢ, sⱼ    </a:t>
            </a:r>
            <a:r>
              <a:rPr lang="en-US" sz="1400" b="0" u="none" strike="noStrike">
                <a:solidFill>
                  <a:srgbClr val="1F2D3A"/>
                </a:solidFill>
                <a:effectLst/>
                <a:uFillTx/>
                <a:latin typeface="Calibri"/>
              </a:rPr>
              <a:t>Strength (weighted degree) of nodes i and j:  sᵢ = Σⱼ wᵢⱼ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Rectangle 7"/>
          <p:cNvSpPr/>
          <p:nvPr/>
        </p:nvSpPr>
        <p:spPr>
          <a:xfrm>
            <a:off x="6172200" y="3886200"/>
            <a:ext cx="5486040" cy="8683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tIns="45000" rIns="18288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1A9AA3"/>
                </a:solidFill>
                <a:effectLst/>
                <a:uFillTx/>
                <a:latin typeface="Cambria Math"/>
              </a:rPr>
              <a:t>Q    </a:t>
            </a:r>
            <a:r>
              <a:rPr lang="en-US" sz="1400" b="0" u="none" strike="noStrike">
                <a:solidFill>
                  <a:srgbClr val="1F2D3A"/>
                </a:solidFill>
                <a:effectLst/>
                <a:uFillTx/>
                <a:latin typeface="Calibri"/>
              </a:rPr>
              <a:t>Modularity score (ranges from −0.5 to 1; higher = better communities)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Rectangle 8"/>
          <p:cNvSpPr/>
          <p:nvPr/>
        </p:nvSpPr>
        <p:spPr>
          <a:xfrm>
            <a:off x="548640" y="4892040"/>
            <a:ext cx="5486040" cy="8683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tIns="45000" rIns="18288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1A9AA3"/>
                </a:solidFill>
                <a:effectLst/>
                <a:uFillTx/>
                <a:latin typeface="Cambria Math"/>
              </a:rPr>
              <a:t>m    </a:t>
            </a:r>
            <a:r>
              <a:rPr lang="en-US" sz="1400" b="0" u="none" strike="noStrike">
                <a:solidFill>
                  <a:srgbClr val="1F2D3A"/>
                </a:solidFill>
                <a:effectLst/>
                <a:uFillTx/>
                <a:latin typeface="Calibri"/>
              </a:rPr>
              <a:t>Total edge weight in graph:  m = ½ Σᵢⱼ wᵢⱼ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Rectangle 9"/>
          <p:cNvSpPr/>
          <p:nvPr/>
        </p:nvSpPr>
        <p:spPr>
          <a:xfrm>
            <a:off x="0" y="6400800"/>
            <a:ext cx="12191400" cy="456840"/>
          </a:xfrm>
          <a:prstGeom prst="rect">
            <a:avLst/>
          </a:prstGeom>
          <a:solidFill>
            <a:srgbClr val="DDE6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576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300" b="0" i="1" u="none" strike="noStrike">
                <a:solidFill>
                  <a:srgbClr val="4A5B6B"/>
                </a:solidFill>
                <a:effectLst/>
                <a:uFillTx/>
                <a:latin typeface="Calibri"/>
              </a:rPr>
              <a:t>Reduces to the unweighted form when all wᵢⱼ ∈ {0,1}: then sᵢ = kᵢ and m = |E|.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LibreOffice/26.2.2.2$Linux_X86_64 LibreOffice_project/620$Build-2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>Steve Canny</cp:lastModifiedBy>
  <dcterms:modified xsi:type="dcterms:W3CDTF">2013-01-27T09:15:58Z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